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097280"/>
            <a:ext cx="4114800" cy="4114800"/>
          </a:xfrm>
          <a:prstGeom prst="ellipse">
            <a:avLst/>
          </a:prstGeom>
          <a:solidFill>
            <a:srgbClr val="3D2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7A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73152" cy="1828800"/>
          </a:xfrm>
          <a:prstGeom prst="rect">
            <a:avLst/>
          </a:prstGeom>
          <a:solidFill>
            <a:srgbClr val="C9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6B9A"/>
                </a:solidFill>
                <a:latin typeface="Calibri"/>
              </a:rPr>
              <a:t>BOUTIQUE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Subscription Plans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37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0B0D8"/>
                </a:solidFill>
                <a:latin typeface="Calibri"/>
              </a:rPr>
              <a:t>Choose the perfect plan to grow your boutique business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977639"/>
            <a:ext cx="3291840" cy="384048"/>
          </a:xfrm>
          <a:prstGeom prst="rect">
            <a:avLst/>
          </a:prstGeom>
          <a:solidFill>
            <a:srgbClr val="4A1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977639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96B9A"/>
                </a:solidFill>
                <a:latin typeface="Calibri"/>
              </a:rPr>
              <a:t>✦  Premium · Reliable · Scalable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468"/>
                </a:solidFill>
                <a:latin typeface="Calibri"/>
              </a:rPr>
              <a:t>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0C0EA"/>
                </a:solidFill>
                <a:latin typeface="Calibri"/>
              </a:rPr>
              <a:t>BOUTIQUE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3891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Why Choose Us?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265176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2651760" cy="73152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1A1625"/>
                </a:solidFill>
                <a:latin typeface="Calibri"/>
              </a:rPr>
              <a:t>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231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7B5EA7"/>
                </a:solidFill>
                <a:latin typeface="Calibri"/>
              </a:rPr>
              <a:t>Mobile-First
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15468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A5468"/>
                </a:solidFill>
                <a:latin typeface="Calibri"/>
              </a:rPr>
              <a:t>Works perfectly on any phone or tablet — no laptop needed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554480"/>
            <a:ext cx="265176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554480"/>
            <a:ext cx="2651760" cy="73152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6916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1A1625"/>
                </a:solidFill>
                <a:latin typeface="Calibri"/>
              </a:rPr>
              <a:t>☁️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4231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7B5EA7"/>
                </a:solidFill>
                <a:latin typeface="Calibri"/>
              </a:rPr>
              <a:t>Cloud
Powered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315468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A5468"/>
                </a:solidFill>
                <a:latin typeface="Calibri"/>
              </a:rPr>
              <a:t>Your data is safe, backed up and accessible anywhere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554480"/>
            <a:ext cx="265176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554480"/>
            <a:ext cx="2651760" cy="73152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6916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1A1625"/>
                </a:solidFill>
                <a:latin typeface="Calibri"/>
              </a:rPr>
              <a:t>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4231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7B5EA7"/>
                </a:solidFill>
                <a:latin typeface="Calibri"/>
              </a:rPr>
              <a:t>Secure &amp;
Private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15468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A5468"/>
                </a:solidFill>
                <a:latin typeface="Calibri"/>
              </a:rPr>
              <a:t>Each boutique's data is completely isolated and protected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1554480"/>
            <a:ext cx="265176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1554480"/>
            <a:ext cx="2651760" cy="73152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16916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1A1625"/>
                </a:solidFill>
                <a:latin typeface="Calibri"/>
              </a:rPr>
              <a:t>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4231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7B5EA7"/>
                </a:solidFill>
                <a:latin typeface="Calibri"/>
              </a:rPr>
              <a:t>Real-Time
Updates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315468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A5468"/>
                </a:solidFill>
                <a:latin typeface="Calibri"/>
              </a:rPr>
              <a:t>Orders and billing update instantly across all your devices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2179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A5468"/>
                </a:solidFill>
                <a:latin typeface="Calibri"/>
              </a:rPr>
              <a:t>Trusted by boutiques across India  ·  No technical knowledge required  ·  Setup in minutes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0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6B9A"/>
                </a:solidFill>
                <a:latin typeface="Calibri"/>
              </a:rPr>
              <a:t>BOUTIQUE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3891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Everything You Need to Run Your Boutique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365760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3657600" cy="54864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625"/>
                </a:solidFill>
                <a:latin typeface="Calibri"/>
              </a:rPr>
              <a:t>🛍️  Orders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9339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468"/>
                </a:solidFill>
                <a:latin typeface="Calibri"/>
              </a:rPr>
              <a:t>✓  Quick order creation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957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468"/>
                </a:solidFill>
                <a:latin typeface="Calibri"/>
              </a:rPr>
              <a:t>✓  Track delivery timelines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98064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468"/>
                </a:solidFill>
                <a:latin typeface="Calibri"/>
              </a:rPr>
              <a:t>✓  Pending vs delivered 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0040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468"/>
                </a:solidFill>
                <a:latin typeface="Calibri"/>
              </a:rPr>
              <a:t>✓  Customer details &amp; history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9392" y="1463040"/>
            <a:ext cx="365760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9392" y="1463040"/>
            <a:ext cx="3657600" cy="54864"/>
          </a:xfrm>
          <a:prstGeom prst="rect">
            <a:avLst/>
          </a:prstGeom>
          <a:solidFill>
            <a:srgbClr val="C9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6552" y="15544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625"/>
                </a:solidFill>
                <a:latin typeface="Calibri"/>
              </a:rPr>
              <a:t>📐  Measurements Module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552" y="199339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468"/>
                </a:solidFill>
                <a:latin typeface="Calibri"/>
              </a:rPr>
              <a:t>✓  Store customer measurements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23957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468"/>
                </a:solidFill>
                <a:latin typeface="Calibri"/>
              </a:rPr>
              <a:t>✓  Multiple garment types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2" y="2798064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468"/>
                </a:solidFill>
                <a:latin typeface="Calibri"/>
              </a:rPr>
              <a:t>✓  Custom measurement fields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2" y="320040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468"/>
                </a:solidFill>
                <a:latin typeface="Calibri"/>
              </a:rPr>
              <a:t>✓  Measurement history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38744" y="1463040"/>
            <a:ext cx="365760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38744" y="1463040"/>
            <a:ext cx="3657600" cy="54864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75904" y="15544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625"/>
                </a:solidFill>
                <a:latin typeface="Calibri"/>
              </a:rPr>
              <a:t>🧾  Billing &amp; Receipts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75904" y="199339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468"/>
                </a:solidFill>
                <a:latin typeface="Calibri"/>
              </a:rPr>
              <a:t>✓  Auto-generate invoices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75904" y="23957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468"/>
                </a:solidFill>
                <a:latin typeface="Calibri"/>
              </a:rPr>
              <a:t>✓  GST / tax support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75904" y="2798064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468"/>
                </a:solidFill>
                <a:latin typeface="Calibri"/>
              </a:rPr>
              <a:t>✓  Printable PDF bills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75904" y="320040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468"/>
                </a:solidFill>
                <a:latin typeface="Calibri"/>
              </a:rPr>
              <a:t>✓  Payment status tracking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977639"/>
            <a:ext cx="365760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3977639"/>
            <a:ext cx="3657600" cy="54864"/>
          </a:xfrm>
          <a:prstGeom prst="rect">
            <a:avLst/>
          </a:prstGeom>
          <a:solidFill>
            <a:srgbClr val="C9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06907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625"/>
                </a:solidFill>
                <a:latin typeface="Calibri"/>
              </a:rPr>
              <a:t>📊  Reports &amp; Analytics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50799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468"/>
                </a:solidFill>
                <a:latin typeface="Calibri"/>
              </a:rPr>
              <a:t>✓  Monthly revenue charts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9103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468"/>
                </a:solidFill>
                <a:latin typeface="Calibri"/>
              </a:rPr>
              <a:t>✓  Order delivery rates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312664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468"/>
                </a:solidFill>
                <a:latin typeface="Calibri"/>
              </a:rPr>
              <a:t>✓  Top customer insights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71500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468"/>
                </a:solidFill>
                <a:latin typeface="Calibri"/>
              </a:rPr>
              <a:t>✓  Pending balance overview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79392" y="3977639"/>
            <a:ext cx="365760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79392" y="3977639"/>
            <a:ext cx="3657600" cy="54864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16552" y="406907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625"/>
                </a:solidFill>
                <a:latin typeface="Calibri"/>
              </a:rPr>
              <a:t>👥  Staff Management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16552" y="450799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468"/>
                </a:solidFill>
                <a:latin typeface="Calibri"/>
              </a:rPr>
              <a:t>✓  Invite staff by phone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16552" y="49103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468"/>
                </a:solidFill>
                <a:latin typeface="Calibri"/>
              </a:rPr>
              <a:t>✓  Role-based access control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16552" y="5312664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468"/>
                </a:solidFill>
                <a:latin typeface="Calibri"/>
              </a:rPr>
              <a:t>✓  Active / inactive toggle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16552" y="571500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468"/>
                </a:solidFill>
                <a:latin typeface="Calibri"/>
              </a:rPr>
              <a:t>✓  Staff can update orders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38744" y="3977639"/>
            <a:ext cx="365760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238744" y="3977639"/>
            <a:ext cx="3657600" cy="54864"/>
          </a:xfrm>
          <a:prstGeom prst="rect">
            <a:avLst/>
          </a:prstGeom>
          <a:solidFill>
            <a:srgbClr val="C9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75904" y="406907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625"/>
                </a:solidFill>
                <a:latin typeface="Calibri"/>
              </a:rPr>
              <a:t>💳  Subscription View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75904" y="450799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468"/>
                </a:solidFill>
                <a:latin typeface="Calibri"/>
              </a:rPr>
              <a:t>✓  See current plan details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75904" y="49103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468"/>
                </a:solidFill>
                <a:latin typeface="Calibri"/>
              </a:rPr>
              <a:t>✓  View expiry date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75904" y="5312664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468"/>
                </a:solidFill>
                <a:latin typeface="Calibri"/>
              </a:rPr>
              <a:t>✓  Feature list included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75904" y="571500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468"/>
                </a:solidFill>
                <a:latin typeface="Calibri"/>
              </a:rPr>
              <a:t>✓  Plan usage limits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4A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D5F5"/>
                </a:solidFill>
                <a:latin typeface="Calibri"/>
              </a:rPr>
              <a:t>BOUTIQUE MANAGEMENT  ·  Feature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3891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🛍️  Orders Management — Your Home Screen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3035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303520" cy="73152"/>
          </a:xfrm>
          <a:prstGeom prst="rect">
            <a:avLst/>
          </a:prstGeom>
          <a:solidFill>
            <a:srgbClr val="4A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7276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6FD4"/>
                </a:solidFill>
                <a:latin typeface="Calibri"/>
              </a:rPr>
              <a:t>How It Works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103120"/>
            <a:ext cx="347472" cy="347472"/>
          </a:xfrm>
          <a:prstGeom prst="ellipse">
            <a:avLst/>
          </a:prstGeom>
          <a:solidFill>
            <a:srgbClr val="4A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93976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084831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625"/>
                </a:solidFill>
                <a:latin typeface="Calibri"/>
              </a:rPr>
              <a:t>Create an order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40863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468"/>
                </a:solidFill>
                <a:latin typeface="Calibri"/>
              </a:rPr>
              <a:t>Enter customer name, garment types, delivery date and advance payment in seconds.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127248"/>
            <a:ext cx="347472" cy="347472"/>
          </a:xfrm>
          <a:prstGeom prst="ellipse">
            <a:avLst/>
          </a:prstGeom>
          <a:solidFill>
            <a:srgbClr val="4A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118104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10896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625"/>
                </a:solidFill>
                <a:latin typeface="Calibri"/>
              </a:rPr>
              <a:t>Track progress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364991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468"/>
                </a:solidFill>
                <a:latin typeface="Calibri"/>
              </a:rPr>
              <a:t>Orders move through Pending → In Progress → Ready → Delivered automatically.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4151376"/>
            <a:ext cx="347472" cy="347472"/>
          </a:xfrm>
          <a:prstGeom prst="ellipse">
            <a:avLst/>
          </a:prstGeom>
          <a:solidFill>
            <a:srgbClr val="4A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142232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13308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625"/>
                </a:solidFill>
                <a:latin typeface="Calibri"/>
              </a:rPr>
              <a:t>Get paid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38912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468"/>
                </a:solidFill>
                <a:latin typeface="Calibri"/>
              </a:rPr>
              <a:t>Record payments, see live balance due. Overdue orders are flagged in red.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5175504"/>
            <a:ext cx="347472" cy="347472"/>
          </a:xfrm>
          <a:prstGeom prst="ellipse">
            <a:avLst/>
          </a:prstGeom>
          <a:solidFill>
            <a:srgbClr val="4A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166360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157216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625"/>
                </a:solidFill>
                <a:latin typeface="Calibri"/>
              </a:rPr>
              <a:t>Deliver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413248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468"/>
                </a:solidFill>
                <a:latin typeface="Calibri"/>
              </a:rPr>
              <a:t>Mark as delivered. The customer balance clears and revenue is recorded.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1463040"/>
            <a:ext cx="57607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35040" y="1463040"/>
            <a:ext cx="5760720" cy="73152"/>
          </a:xfrm>
          <a:prstGeom prst="rect">
            <a:avLst/>
          </a:prstGeom>
          <a:solidFill>
            <a:srgbClr val="C9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157276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6B9A"/>
                </a:solidFill>
                <a:latin typeface="Calibri"/>
              </a:rPr>
              <a:t>Key Capabilities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205740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625"/>
                </a:solidFill>
                <a:latin typeface="Calibri"/>
              </a:rPr>
              <a:t>✓  Quick order creation (under 60 seconds)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2404872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468"/>
                </a:solidFill>
                <a:latin typeface="Calibri"/>
              </a:rPr>
              <a:t>✓  Auto-calculate total, advance &amp; balance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275234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625"/>
                </a:solidFill>
                <a:latin typeface="Calibri"/>
              </a:rPr>
              <a:t>✓  Status tracking: Pending / In Progress / Ready / Delivered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309981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468"/>
                </a:solidFill>
                <a:latin typeface="Calibri"/>
              </a:rPr>
              <a:t>✓  Overdue delivery alerts highlighted in red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3447288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625"/>
                </a:solidFill>
                <a:latin typeface="Calibri"/>
              </a:rPr>
              <a:t>✓  Search &amp; filter orders by customer name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379476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468"/>
                </a:solidFill>
                <a:latin typeface="Calibri"/>
              </a:rPr>
              <a:t>✓  Sort by newest, delivery date, or amount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4142232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625"/>
                </a:solidFill>
                <a:latin typeface="Calibri"/>
              </a:rPr>
              <a:t>✓  4 live stats: Total, Pending, Delivered, Revenue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448970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468"/>
                </a:solidFill>
                <a:latin typeface="Calibri"/>
              </a:rPr>
              <a:t>✓  Attach garment items with individual rates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483717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625"/>
                </a:solidFill>
                <a:latin typeface="Calibri"/>
              </a:rPr>
              <a:t>✓  Add profit margin per garment item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5184648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468"/>
                </a:solidFill>
                <a:latin typeface="Calibri"/>
              </a:rPr>
              <a:t>✓  Notes field for special instructions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553212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625"/>
                </a:solidFill>
                <a:latin typeface="Calibri"/>
              </a:rPr>
              <a:t>✓  Order history with full audit trail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5879592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468"/>
                </a:solidFill>
                <a:latin typeface="Calibri"/>
              </a:rPr>
              <a:t>✓  Staff can update status (cannot delete)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0C0EA"/>
                </a:solidFill>
                <a:latin typeface="Calibri"/>
              </a:rPr>
              <a:t>BOUTIQUE MANAGEMENT  ·  Feature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3891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📐  Measurements  &amp;  🧾  Billing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4864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486400" cy="73152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7276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B5EA7"/>
                </a:solidFill>
                <a:latin typeface="Calibri"/>
              </a:rPr>
              <a:t>📐  Measurements Module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84831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B5EA7"/>
                </a:solidFill>
                <a:latin typeface="Calibri"/>
              </a:rPr>
              <a:t>✦  Customer Profiles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468"/>
                </a:solidFill>
                <a:latin typeface="Calibri"/>
              </a:rPr>
              <a:t>Store measurements for unlimited customers with phone number lookup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4320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B5EA7"/>
                </a:solidFill>
                <a:latin typeface="Calibri"/>
              </a:rPr>
              <a:t>✦  Multiple Garments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9008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468"/>
                </a:solidFill>
                <a:latin typeface="Calibri"/>
              </a:rPr>
              <a:t>Blouse, Lehenga, Saree, Churidar, Gown, Frock, Pavadai &amp; more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40156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B5EA7"/>
                </a:solidFill>
                <a:latin typeface="Calibri"/>
              </a:rPr>
              <a:t>✦  Custom Fields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64845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468"/>
                </a:solidFill>
                <a:latin typeface="Calibri"/>
              </a:rPr>
              <a:t>Add unlimited custom measurement fields per garment 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059935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B5EA7"/>
                </a:solidFill>
                <a:latin typeface="Calibri"/>
              </a:rPr>
              <a:t>✦  Measurement History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06823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468"/>
                </a:solidFill>
                <a:latin typeface="Calibri"/>
              </a:rPr>
              <a:t>Track changes over time — never lose old measurements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71830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B5EA7"/>
                </a:solidFill>
                <a:latin typeface="Calibri"/>
              </a:rPr>
              <a:t>✦  Quick Lookup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96519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468"/>
                </a:solidFill>
                <a:latin typeface="Calibri"/>
              </a:rPr>
              <a:t>Search customer by name or phone in seconds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376671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B5EA7"/>
                </a:solidFill>
                <a:latin typeface="Calibri"/>
              </a:rPr>
              <a:t>✦  Notes &amp; Instructions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623559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468"/>
                </a:solidFill>
                <a:latin typeface="Calibri"/>
              </a:rPr>
              <a:t>Add special tailoring notes per customer or garment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0350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B5EA7"/>
                </a:solidFill>
                <a:latin typeface="Calibri"/>
              </a:rPr>
              <a:t>✦  Edit Anytime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281927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468"/>
                </a:solidFill>
                <a:latin typeface="Calibri"/>
              </a:rPr>
              <a:t>Update measurements as customer body changes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1463040"/>
            <a:ext cx="54864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1463040"/>
            <a:ext cx="5486400" cy="73152"/>
          </a:xfrm>
          <a:prstGeom prst="rect">
            <a:avLst/>
          </a:prstGeom>
          <a:solidFill>
            <a:srgbClr val="C9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157276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6B9A"/>
                </a:solidFill>
                <a:latin typeface="Calibri"/>
              </a:rPr>
              <a:t>🧾  Billing &amp; Receipts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084831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6B9A"/>
                </a:solidFill>
                <a:latin typeface="Calibri"/>
              </a:rPr>
              <a:t>✦  Auto Invoice Numbers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23317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468"/>
                </a:solidFill>
                <a:latin typeface="Calibri"/>
              </a:rPr>
              <a:t>Sequential invoice numbering (INV-0001, 0002…)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74320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6B9A"/>
                </a:solidFill>
                <a:latin typeface="Calibri"/>
              </a:rPr>
              <a:t>✦  Line-Item Billing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299008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468"/>
                </a:solidFill>
                <a:latin typeface="Calibri"/>
              </a:rPr>
              <a:t>Add multiple items with quantity, rate &amp; auto-total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40156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6B9A"/>
                </a:solidFill>
                <a:latin typeface="Calibri"/>
              </a:rPr>
              <a:t>✦  GST Support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364845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468"/>
                </a:solidFill>
                <a:latin typeface="Calibri"/>
              </a:rPr>
              <a:t>Apply GST percentage — auto-calculates tax amount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059935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6B9A"/>
                </a:solidFill>
                <a:latin typeface="Calibri"/>
              </a:rPr>
              <a:t>✦  Advance &amp; Balance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4306823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468"/>
                </a:solidFill>
                <a:latin typeface="Calibri"/>
              </a:rPr>
              <a:t>Track how much is paid and how much is pending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71830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6B9A"/>
                </a:solidFill>
                <a:latin typeface="Calibri"/>
              </a:rPr>
              <a:t>✦  Payment Status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49651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468"/>
                </a:solidFill>
                <a:latin typeface="Calibri"/>
              </a:rPr>
              <a:t>Paid / Partial / Pending status at a glance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5376671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6B9A"/>
                </a:solidFill>
                <a:latin typeface="Calibri"/>
              </a:rPr>
              <a:t>✦  Print-Ready Bills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5623559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468"/>
                </a:solidFill>
                <a:latin typeface="Calibri"/>
              </a:rPr>
              <a:t>One-click browser print — formatted invoice layout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603504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6B9A"/>
                </a:solidFill>
                <a:latin typeface="Calibri"/>
              </a:rPr>
              <a:t>✦  Bill History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0840" y="6281927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468"/>
                </a:solidFill>
                <a:latin typeface="Calibri"/>
              </a:rPr>
              <a:t>All invoices stored permanently with full details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0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6B9A"/>
                </a:solidFill>
                <a:latin typeface="Calibri"/>
              </a:rPr>
              <a:t>BOUTIQUE MANAGEMENT  ·  Feature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3891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📊  Reports &amp; Analytics  +  👥  Staff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4864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486400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7276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  <a:latin typeface="Calibri"/>
              </a:rPr>
              <a:t>📊  Reports &amp;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84831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  <a:latin typeface="Calibri"/>
              </a:rPr>
              <a:t>✦  Monthly Revenue Chart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468"/>
                </a:solidFill>
                <a:latin typeface="Calibri"/>
              </a:rPr>
              <a:t>Bar chart showing last 6 months of collected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4320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  <a:latin typeface="Calibri"/>
              </a:rPr>
              <a:t>✦  Orders Trend 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9008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468"/>
                </a:solidFill>
                <a:latin typeface="Calibri"/>
              </a:rPr>
              <a:t>See how many orders came in each month vs delivered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40156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  <a:latin typeface="Calibri"/>
              </a:rPr>
              <a:t>✦  Order Status Pie Chart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64845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468"/>
                </a:solidFill>
                <a:latin typeface="Calibri"/>
              </a:rPr>
              <a:t>Visual breakdown: pending, in-progress, ready, delivered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059935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  <a:latin typeface="Calibri"/>
              </a:rPr>
              <a:t>✦  Top 5 Customers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06823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468"/>
                </a:solidFill>
                <a:latin typeface="Calibri"/>
              </a:rPr>
              <a:t>Ranked by total order value — know your best clients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71830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  <a:latin typeface="Calibri"/>
              </a:rPr>
              <a:t>✦  Key Metrics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96519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468"/>
                </a:solidFill>
                <a:latin typeface="Calibri"/>
              </a:rPr>
              <a:t>Total revenue, pending balance, order count, delivery 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376671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  <a:latin typeface="Calibri"/>
              </a:rPr>
              <a:t>✦  Delivery Rate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623559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468"/>
                </a:solidFill>
                <a:latin typeface="Calibri"/>
              </a:rPr>
              <a:t>Track how efficiently you're fulfilling orders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0350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  <a:latin typeface="Calibri"/>
              </a:rPr>
              <a:t>✦  Revenue vs Balance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281927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468"/>
                </a:solidFill>
                <a:latin typeface="Calibri"/>
              </a:rPr>
              <a:t>How much you've collected vs how much is still owed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1463040"/>
            <a:ext cx="54864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1463040"/>
            <a:ext cx="5486400" cy="7315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157276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5100"/>
                </a:solidFill>
                <a:latin typeface="Calibri"/>
              </a:rPr>
              <a:t>👥  Staff Management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084831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5100"/>
                </a:solidFill>
                <a:latin typeface="Calibri"/>
              </a:rPr>
              <a:t>✦  Invite by Phone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23317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468"/>
                </a:solidFill>
                <a:latin typeface="Calibri"/>
              </a:rPr>
              <a:t>Staff receives invite and logs in with their phone number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74320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5100"/>
                </a:solidFill>
                <a:latin typeface="Calibri"/>
              </a:rPr>
              <a:t>✦  Two Roles 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299008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468"/>
                </a:solidFill>
                <a:latin typeface="Calibri"/>
              </a:rPr>
              <a:t>Admin (full access) or Staff (view + update status only)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40156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5100"/>
                </a:solidFill>
                <a:latin typeface="Calibri"/>
              </a:rPr>
              <a:t>✦  Activate / Deactivate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364845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468"/>
                </a:solidFill>
                <a:latin typeface="Calibri"/>
              </a:rPr>
              <a:t>Instantly block access if staff member leaves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059935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5100"/>
                </a:solidFill>
                <a:latin typeface="Calibri"/>
              </a:rPr>
              <a:t>✦  No Tech Setup Needed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4306823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468"/>
                </a:solidFill>
                <a:latin typeface="Calibri"/>
              </a:rPr>
              <a:t>Staff just installs the app and logs in — nothing else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71830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5100"/>
                </a:solidFill>
                <a:latin typeface="Calibri"/>
              </a:rPr>
              <a:t>✦  Order Status Updates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49651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468"/>
                </a:solidFill>
                <a:latin typeface="Calibri"/>
              </a:rPr>
              <a:t>Staff can mark orders as In Progress, Ready, Delivered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5376671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5100"/>
                </a:solidFill>
                <a:latin typeface="Calibri"/>
              </a:rPr>
              <a:t>✦  View Customer Details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5623559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468"/>
                </a:solidFill>
                <a:latin typeface="Calibri"/>
              </a:rPr>
              <a:t>Staff can see customer name, phone and garment details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603504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5100"/>
                </a:solidFill>
                <a:latin typeface="Calibri"/>
              </a:rPr>
              <a:t>✦  No Delete Access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0840" y="6281927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468"/>
                </a:solidFill>
                <a:latin typeface="Calibri"/>
              </a:rPr>
              <a:t>Staff cannot delete any orders, measurements or bills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0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6B9A"/>
                </a:solidFill>
                <a:latin typeface="Calibri"/>
              </a:rPr>
              <a:t>BOUTIQUE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3891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Choose Your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2697480" cy="5212080"/>
          </a:xfrm>
          <a:prstGeom prst="rect">
            <a:avLst/>
          </a:prstGeom>
          <a:solidFill>
            <a:srgbClr val="1E1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2697480" cy="109728"/>
          </a:xfrm>
          <a:prstGeom prst="rect">
            <a:avLst/>
          </a:prstGeom>
          <a:solidFill>
            <a:srgbClr val="5A5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A5468"/>
                </a:solidFill>
                <a:latin typeface="Calibri"/>
              </a:rPr>
              <a:t>FREE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74519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088A8"/>
                </a:solidFill>
                <a:latin typeface="Calibri"/>
              </a:rPr>
              <a:t>Get started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03704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₹0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8892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88A8"/>
                </a:solidFill>
                <a:latin typeface="Calibri"/>
              </a:rPr>
              <a:t>/month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36391"/>
            <a:ext cx="2423160" cy="9144"/>
          </a:xfrm>
          <a:prstGeom prst="rect">
            <a:avLst/>
          </a:prstGeom>
          <a:solidFill>
            <a:srgbClr val="3A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227832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498"/>
                </a:solidFill>
                <a:latin typeface="Calibri"/>
              </a:rPr>
              <a:t>📦  100 orders   👥  2 staff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630168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✓  Orders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032504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✓  Customer measurements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4348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✓  Basic billing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37176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✓  Basic reports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64408" y="1325880"/>
            <a:ext cx="2697480" cy="5212080"/>
          </a:xfrm>
          <a:prstGeom prst="rect">
            <a:avLst/>
          </a:prstGeom>
          <a:solidFill>
            <a:srgbClr val="1E1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64408" y="1325880"/>
            <a:ext cx="2697480" cy="109728"/>
          </a:xfrm>
          <a:prstGeom prst="rect">
            <a:avLst/>
          </a:prstGeom>
          <a:solidFill>
            <a:srgbClr val="4A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01568" y="150876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6FD4"/>
                </a:solidFill>
                <a:latin typeface="Calibri"/>
              </a:rPr>
              <a:t>BASIC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01568" y="1874519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088A8"/>
                </a:solidFill>
                <a:latin typeface="Calibri"/>
              </a:rPr>
              <a:t>Small boutiques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01568" y="2203704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₹499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01568" y="278892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88A8"/>
                </a:solidFill>
                <a:latin typeface="Calibri"/>
              </a:rPr>
              <a:t>/month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01568" y="3136391"/>
            <a:ext cx="2423160" cy="9144"/>
          </a:xfrm>
          <a:prstGeom prst="rect">
            <a:avLst/>
          </a:prstGeom>
          <a:solidFill>
            <a:srgbClr val="3A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01568" y="3227832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9CE8"/>
                </a:solidFill>
                <a:latin typeface="Calibri"/>
              </a:rPr>
              <a:t>📦  500 orders   👥  5 staff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01568" y="3630168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✓  Orders management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01568" y="4032504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✓  Customer measurements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01568" y="44348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✓  Billing &amp; GST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01568" y="4837176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✓  Reports &amp; charts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01568" y="523951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✓  Staff management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01568" y="5641848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✓  Print bills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08776" y="1325880"/>
            <a:ext cx="2697480" cy="5212080"/>
          </a:xfrm>
          <a:prstGeom prst="rect">
            <a:avLst/>
          </a:prstGeom>
          <a:solidFill>
            <a:srgbClr val="2A1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08776" y="1325880"/>
            <a:ext cx="2697480" cy="109728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665976" y="1097280"/>
            <a:ext cx="1783080" cy="2743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65976" y="109728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A1625"/>
                </a:solidFill>
                <a:latin typeface="Calibri"/>
              </a:rPr>
              <a:t>MOST POPULAR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45936" y="150876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B5EA7"/>
                </a:solidFill>
                <a:latin typeface="Calibri"/>
              </a:rPr>
              <a:t>PRO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45936" y="1874519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4AF37"/>
                </a:solidFill>
                <a:latin typeface="Calibri"/>
              </a:rPr>
              <a:t>⭐  Most Popular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45936" y="2203704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₹999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45936" y="278892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88A8"/>
                </a:solidFill>
                <a:latin typeface="Calibri"/>
              </a:rPr>
              <a:t>/month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45936" y="3136391"/>
            <a:ext cx="2423160" cy="9144"/>
          </a:xfrm>
          <a:prstGeom prst="rect">
            <a:avLst/>
          </a:prstGeom>
          <a:solidFill>
            <a:srgbClr val="3A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45936" y="3227832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8CC8"/>
                </a:solidFill>
                <a:latin typeface="Calibri"/>
              </a:rPr>
              <a:t>📦  5,000 orders   👥  10 staff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45936" y="3630168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✓  Everything in Basic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45936" y="4032504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✓  Advanced analytics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45936" y="44348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✓  Top customer insights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45936" y="4837176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✓  Revenue vs balance view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45936" y="523951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✓  Priority email support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45936" y="5641848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✓  Unlimited measurements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53144" y="1325880"/>
            <a:ext cx="2697480" cy="5212080"/>
          </a:xfrm>
          <a:prstGeom prst="rect">
            <a:avLst/>
          </a:prstGeom>
          <a:solidFill>
            <a:srgbClr val="1E1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153144" y="1325880"/>
            <a:ext cx="2697480" cy="109728"/>
          </a:xfrm>
          <a:prstGeom prst="rect">
            <a:avLst/>
          </a:prstGeom>
          <a:solidFill>
            <a:srgbClr val="C9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290304" y="150876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6B9A"/>
                </a:solidFill>
                <a:latin typeface="Calibri"/>
              </a:rPr>
              <a:t>ENTERPRISE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90304" y="1874519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088A8"/>
                </a:solidFill>
                <a:latin typeface="Calibri"/>
              </a:rPr>
              <a:t>Large boutiques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90304" y="2203704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₹2,499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90304" y="278892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88A8"/>
                </a:solidFill>
                <a:latin typeface="Calibri"/>
              </a:rPr>
              <a:t>/month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290304" y="3136391"/>
            <a:ext cx="2423160" cy="9144"/>
          </a:xfrm>
          <a:prstGeom prst="rect">
            <a:avLst/>
          </a:prstGeom>
          <a:solidFill>
            <a:srgbClr val="3A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290304" y="3227832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A0BF"/>
                </a:solidFill>
                <a:latin typeface="Calibri"/>
              </a:rPr>
              <a:t>📦  Unlimited   👥  50 staff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90304" y="3630168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✓  Everything in Pro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90304" y="4032504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✓  Unlimited orders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290304" y="44348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✓  50 staff members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290304" y="4837176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✓  Dedicated support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90304" y="523951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✓  Custom feature requests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290304" y="5641848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✓  Data backup &amp; export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0C0EA"/>
                </a:solidFill>
                <a:latin typeface="Calibri"/>
              </a:rPr>
              <a:t>BOUTIQUE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3891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Feature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11612880" cy="457200"/>
          </a:xfrm>
          <a:prstGeom prst="rect">
            <a:avLst/>
          </a:prstGeom>
          <a:solidFill>
            <a:srgbClr val="E8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35024"/>
            <a:ext cx="3749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625"/>
                </a:solidFill>
                <a:latin typeface="Calibri"/>
              </a:rPr>
              <a:t>Feature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79" y="1335024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A5468"/>
                </a:solidFill>
                <a:latin typeface="Calibri"/>
              </a:rPr>
              <a:t>Free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335024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A6FD4"/>
                </a:solidFill>
                <a:latin typeface="Calibri"/>
              </a:rPr>
              <a:t>Basic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33502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B5EA7"/>
                </a:solidFill>
                <a:latin typeface="Calibri"/>
              </a:rPr>
              <a:t>Pro 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133502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6B9A"/>
                </a:solidFill>
                <a:latin typeface="Calibri"/>
              </a:rPr>
              <a:t>Enterprise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783080"/>
            <a:ext cx="116128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801368"/>
            <a:ext cx="3749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625"/>
                </a:solidFill>
                <a:latin typeface="Calibri"/>
              </a:rPr>
              <a:t>Orders per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79" y="1801368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625"/>
                </a:solidFill>
                <a:latin typeface="Calibri"/>
              </a:rP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1801368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625"/>
                </a:solidFill>
                <a:latin typeface="Calibri"/>
              </a:rPr>
              <a:t>500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1801368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625"/>
                </a:solidFill>
                <a:latin typeface="Calibri"/>
              </a:rPr>
              <a:t>5,000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1801368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625"/>
                </a:solidFill>
                <a:latin typeface="Calibri"/>
              </a:rPr>
              <a:t>Unlimited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130552"/>
            <a:ext cx="11612880" cy="347472"/>
          </a:xfrm>
          <a:prstGeom prst="rect">
            <a:avLst/>
          </a:prstGeom>
          <a:solidFill>
            <a:srgbClr val="F3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148840"/>
            <a:ext cx="3749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625"/>
                </a:solidFill>
                <a:latin typeface="Calibri"/>
              </a:rPr>
              <a:t>Staff accounts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79" y="2148840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625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2148840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625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2148840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625"/>
                </a:solidFill>
                <a:latin typeface="Calibri"/>
              </a:rP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2148840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625"/>
                </a:solidFill>
                <a:latin typeface="Calibri"/>
              </a:rPr>
              <a:t>50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478024"/>
            <a:ext cx="116128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2496312"/>
            <a:ext cx="3749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625"/>
                </a:solidFill>
                <a:latin typeface="Calibri"/>
              </a:rPr>
              <a:t>Order management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79" y="2496312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2496312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2496312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2496312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825496"/>
            <a:ext cx="11612880" cy="347472"/>
          </a:xfrm>
          <a:prstGeom prst="rect">
            <a:avLst/>
          </a:prstGeom>
          <a:solidFill>
            <a:srgbClr val="F3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2843784"/>
            <a:ext cx="3749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625"/>
                </a:solidFill>
                <a:latin typeface="Calibri"/>
              </a:rPr>
              <a:t>Customer measurements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79" y="2843784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2843784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2843784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2843784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3172968"/>
            <a:ext cx="116128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3191256"/>
            <a:ext cx="3749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625"/>
                </a:solidFill>
                <a:latin typeface="Calibri"/>
              </a:rPr>
              <a:t>Basic billing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3191256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35040" y="3191256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3191256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84080" y="3191256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3520439"/>
            <a:ext cx="11612880" cy="347472"/>
          </a:xfrm>
          <a:prstGeom prst="rect">
            <a:avLst/>
          </a:prstGeom>
          <a:solidFill>
            <a:srgbClr val="F3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3538727"/>
            <a:ext cx="3749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625"/>
                </a:solidFill>
                <a:latin typeface="Calibri"/>
              </a:rPr>
              <a:t>GST billing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97679" y="3538727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✗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3538727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0" y="3538727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84080" y="3538727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3867912"/>
            <a:ext cx="116128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" y="3886200"/>
            <a:ext cx="3749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625"/>
                </a:solidFill>
                <a:latin typeface="Calibri"/>
              </a:rPr>
              <a:t>Print-ready invoices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97679" y="3886200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✗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35040" y="3886200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72400" y="3886200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84080" y="3886200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4215384"/>
            <a:ext cx="11612880" cy="347472"/>
          </a:xfrm>
          <a:prstGeom prst="rect">
            <a:avLst/>
          </a:prstGeom>
          <a:solidFill>
            <a:srgbClr val="F3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4233672"/>
            <a:ext cx="3749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625"/>
                </a:solidFill>
                <a:latin typeface="Calibri"/>
              </a:rPr>
              <a:t>Basic reports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297679" y="4233672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35040" y="4233672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72400" y="4233672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784080" y="4233672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4562856"/>
            <a:ext cx="116128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5760" y="4581144"/>
            <a:ext cx="3749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625"/>
                </a:solidFill>
                <a:latin typeface="Calibri"/>
              </a:rPr>
              <a:t>Advanced analytics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97679" y="4581144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✗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035040" y="4581144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✗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772400" y="4581144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784080" y="4581144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4320" y="4910328"/>
            <a:ext cx="11612880" cy="347472"/>
          </a:xfrm>
          <a:prstGeom prst="rect">
            <a:avLst/>
          </a:prstGeom>
          <a:solidFill>
            <a:srgbClr val="F3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65760" y="4928616"/>
            <a:ext cx="3749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625"/>
                </a:solidFill>
                <a:latin typeface="Calibri"/>
              </a:rPr>
              <a:t>Top customer insights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97679" y="4928616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✗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035040" y="4928616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✗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772400" y="4928616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784080" y="4928616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74320" y="5257800"/>
            <a:ext cx="116128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65760" y="5276088"/>
            <a:ext cx="3749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625"/>
                </a:solidFill>
                <a:latin typeface="Calibri"/>
              </a:rPr>
              <a:t>Staff management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297679" y="5276088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✗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35040" y="5276088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772400" y="5276088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784080" y="5276088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74320" y="5605272"/>
            <a:ext cx="11612880" cy="347472"/>
          </a:xfrm>
          <a:prstGeom prst="rect">
            <a:avLst/>
          </a:prstGeom>
          <a:solidFill>
            <a:srgbClr val="F3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65760" y="5623559"/>
            <a:ext cx="3749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625"/>
                </a:solidFill>
                <a:latin typeface="Calibri"/>
              </a:rPr>
              <a:t>Priority support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297679" y="5623559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✗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035040" y="5623559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✗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772400" y="5623559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784080" y="5623559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74320" y="5952744"/>
            <a:ext cx="116128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65760" y="5971032"/>
            <a:ext cx="3749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625"/>
                </a:solidFill>
                <a:latin typeface="Calibri"/>
              </a:rPr>
              <a:t>Dedicated account manager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297679" y="5971032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✗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35040" y="5971032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✗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772400" y="5971032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✗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784080" y="5971032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74320" y="6300216"/>
            <a:ext cx="11612880" cy="347472"/>
          </a:xfrm>
          <a:prstGeom prst="rect">
            <a:avLst/>
          </a:prstGeom>
          <a:solidFill>
            <a:srgbClr val="F3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65760" y="6318504"/>
            <a:ext cx="3749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625"/>
                </a:solidFill>
                <a:latin typeface="Calibri"/>
              </a:rPr>
              <a:t>Custom feature requests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297679" y="6318504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✗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035040" y="6318504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✗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772400" y="6318504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✗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6318504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0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6B9A"/>
                </a:solidFill>
                <a:latin typeface="Calibri"/>
              </a:rPr>
              <a:t>BOUTIQUE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3891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Your Data is Always Safe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566928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5669280" cy="73152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A1625"/>
                </a:solidFill>
                <a:latin typeface="Calibri"/>
              </a:rPr>
              <a:t>🗑️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49047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625"/>
                </a:solidFill>
                <a:latin typeface="Calibri"/>
              </a:rPr>
              <a:t>Nothing is Ever Lost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828800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B5EA7"/>
                </a:solidFill>
                <a:latin typeface="Calibri"/>
              </a:rPr>
              <a:t>Soft Delete Protection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67128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A5468"/>
                </a:solidFill>
                <a:latin typeface="Calibri"/>
              </a:rPr>
              <a:t>When you delete an order, measurement or bill, it is NOT permanently removed. It moves to a safe trash area. This means accidental deletes can always be recovered.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1325880"/>
            <a:ext cx="566928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325880"/>
            <a:ext cx="5669280" cy="73152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5087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A1625"/>
                </a:solidFill>
                <a:latin typeface="Calibri"/>
              </a:rPr>
              <a:t>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149047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625"/>
                </a:solidFill>
                <a:latin typeface="Calibri"/>
              </a:rPr>
              <a:t>Your Data Belongs Only to You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1828800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B5EA7"/>
                </a:solidFill>
                <a:latin typeface="Calibri"/>
              </a:rPr>
              <a:t>Complete Data Isolation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167128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A5468"/>
                </a:solidFill>
                <a:latin typeface="Calibri"/>
              </a:rPr>
              <a:t>Your boutique's data is fully separate from every other boutique on the platform. No other boutique can ever see your orders, customers or billing information.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931920"/>
            <a:ext cx="566928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931920"/>
            <a:ext cx="5669280" cy="73152"/>
          </a:xfrm>
          <a:prstGeom prst="rect">
            <a:avLst/>
          </a:prstGeom>
          <a:solidFill>
            <a:srgbClr val="C9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1148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A1625"/>
                </a:solidFill>
                <a:latin typeface="Calibri"/>
              </a:rPr>
              <a:t>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096511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625"/>
                </a:solidFill>
                <a:latin typeface="Calibri"/>
              </a:rPr>
              <a:t>Works on Any Device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434840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6B9A"/>
                </a:solidFill>
                <a:latin typeface="Calibri"/>
              </a:rPr>
              <a:t>Mobile-First, Always Available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773168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A5468"/>
                </a:solidFill>
                <a:latin typeface="Calibri"/>
              </a:rPr>
              <a:t>Log in from your phone, tablet or computer. Your data syncs in real time across all devices — check orders from your phone while someone else uses a tablet.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5080" y="3931920"/>
            <a:ext cx="566928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5080" y="3931920"/>
            <a:ext cx="5669280" cy="73152"/>
          </a:xfrm>
          <a:prstGeom prst="rect">
            <a:avLst/>
          </a:prstGeom>
          <a:solidFill>
            <a:srgbClr val="C9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41148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A1625"/>
                </a:solidFill>
                <a:latin typeface="Calibri"/>
              </a:rPr>
              <a:t>☁️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4096511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625"/>
                </a:solidFill>
                <a:latin typeface="Calibri"/>
              </a:rPr>
              <a:t>Automatic Cloud Backup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4434840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6B9A"/>
                </a:solidFill>
                <a:latin typeface="Calibri"/>
              </a:rPr>
              <a:t>Powered by Google Firebase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4773168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A5468"/>
                </a:solidFill>
                <a:latin typeface="Calibri"/>
              </a:rPr>
              <a:t>All data is stored on Google's Firebase cloud — the same infrastructure used by millions of apps. Automatic daily backups so your data is never at risk.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-914400"/>
            <a:ext cx="5486400" cy="5486400"/>
          </a:xfrm>
          <a:prstGeom prst="ellipse">
            <a:avLst/>
          </a:prstGeom>
          <a:solidFill>
            <a:srgbClr val="3D2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7A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6B9A"/>
                </a:solidFill>
                <a:latin typeface="Calibri"/>
              </a:rPr>
              <a:t>BOUTIQUE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Ready to Get Started?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0B0D8"/>
                </a:solidFill>
                <a:latin typeface="Calibri"/>
              </a:rPr>
              <a:t>3 simple steps to transform how you run your boutique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377440"/>
            <a:ext cx="731520" cy="731520"/>
          </a:xfrm>
          <a:prstGeom prst="ellipse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We Set Up Your Account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033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B0D8"/>
                </a:solidFill>
                <a:latin typeface="Calibri"/>
              </a:rPr>
              <a:t>We create your boutique profile and configure everything for you. No technical work on your side.</a:t>
            </a:r>
          </a:p>
        </p:txBody>
      </p:sp>
      <p:sp>
        <p:nvSpPr>
          <p:cNvPr id="12" name="Oval 11"/>
          <p:cNvSpPr/>
          <p:nvPr/>
        </p:nvSpPr>
        <p:spPr>
          <a:xfrm>
            <a:off x="4434840" y="2377440"/>
            <a:ext cx="731520" cy="731520"/>
          </a:xfrm>
          <a:prstGeom prst="ellipse">
            <a:avLst/>
          </a:prstGeom>
          <a:solidFill>
            <a:srgbClr val="4A6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23774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324612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Invite Your Team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37033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B0D8"/>
                </a:solidFill>
                <a:latin typeface="Calibri"/>
              </a:rPr>
              <a:t>Add your staff members by their phone number. They log in and are ready to go in minutes.</a:t>
            </a:r>
          </a:p>
        </p:txBody>
      </p:sp>
      <p:sp>
        <p:nvSpPr>
          <p:cNvPr id="16" name="Oval 15"/>
          <p:cNvSpPr/>
          <p:nvPr/>
        </p:nvSpPr>
        <p:spPr>
          <a:xfrm>
            <a:off x="8321040" y="2377440"/>
            <a:ext cx="731520" cy="731520"/>
          </a:xfrm>
          <a:prstGeom prst="ellipse">
            <a:avLst/>
          </a:prstGeom>
          <a:solidFill>
            <a:srgbClr val="C9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3774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24612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Start Managing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7033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B0D8"/>
                </a:solidFill>
                <a:latin typeface="Calibri"/>
              </a:rPr>
              <a:t>Create your first order, add customer measurements, and generate your first invoice today.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5029200"/>
            <a:ext cx="9418320" cy="1371600"/>
          </a:xfrm>
          <a:prstGeom prst="rect">
            <a:avLst/>
          </a:prstGeom>
          <a:solidFill>
            <a:srgbClr val="2A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71600" y="5029200"/>
            <a:ext cx="9418320" cy="54864"/>
          </a:xfrm>
          <a:prstGeom prst="rect">
            <a:avLst/>
          </a:prstGeom>
          <a:solidFill>
            <a:srgbClr val="C9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45920" y="5138928"/>
            <a:ext cx="8869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Start with the FREE plan today — no credit card required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5577840"/>
            <a:ext cx="8869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B0D8"/>
                </a:solidFill>
                <a:latin typeface="Calibri"/>
              </a:rPr>
              <a:t>Upgrade anytime as your boutique grows  ·  Cancel anytime  ·  Your data is always yours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A5468"/>
                </a:solidFill>
                <a:latin typeface="Calibri"/>
              </a:rPr>
              <a:t>Contact us to set up your boutique  ·  boutique-management.in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